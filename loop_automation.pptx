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</p:sldIdLst>
  <p:sldSz cx="12188825" cy="6858000"/>
  <p:notesSz cx="6858000" cy="9144000"/>
  <p:defaultTextStyle>
    <a:defPPr>
      <a:defRPr lang="en-US"/>
    </a:defPPr>
    <a:lvl1pPr marL="0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43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885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328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771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213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656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097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541" algn="l" defTabSz="609443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" userDrawn="1">
          <p15:clr>
            <a:srgbClr val="A4A3A4"/>
          </p15:clr>
        </p15:guide>
        <p15:guide id="2" pos="24" userDrawn="1">
          <p15:clr>
            <a:srgbClr val="A4A3A4"/>
          </p15:clr>
        </p15:guide>
        <p15:guide id="3" orient="horz" pos="80">
          <p15:clr>
            <a:srgbClr val="A4A3A4"/>
          </p15:clr>
        </p15:guide>
        <p15:guide id="4" pos="3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777777"/>
    <a:srgbClr val="070707"/>
    <a:srgbClr val="0E3689"/>
    <a:srgbClr val="1D9CE4"/>
    <a:srgbClr val="FFD53A"/>
    <a:srgbClr val="702076"/>
    <a:srgbClr val="5EBF33"/>
    <a:srgbClr val="FD7F20"/>
    <a:srgbClr val="0E1454"/>
    <a:srgbClr val="CE16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16" autoAdjust="0"/>
    <p:restoredTop sz="94830"/>
  </p:normalViewPr>
  <p:slideViewPr>
    <p:cSldViewPr snapToGrid="0" snapToObjects="1">
      <p:cViewPr varScale="1">
        <p:scale>
          <a:sx n="81" d="100"/>
          <a:sy n="81" d="100"/>
        </p:scale>
        <p:origin x="1018" y="67"/>
      </p:cViewPr>
      <p:guideLst>
        <p:guide orient="horz" pos="60"/>
        <p:guide pos="24"/>
        <p:guide orient="horz" pos="80"/>
        <p:guide pos="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11" d="100"/>
          <a:sy n="111" d="100"/>
        </p:scale>
        <p:origin x="3832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39C997-21E5-5348-AFE6-AB6F9226485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27AC1D-5903-004B-A07D-BA6E3EE372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615C2D-FB91-8740-95C2-23C11A10F2F2}" type="datetimeFigureOut">
              <a:rPr lang="en-US" smtClean="0"/>
              <a:t>8/5/2020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179EA0-CF08-6C46-9B0C-7A703F62F2C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E23A1-2359-A341-AFD4-DCB4B7D00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9837C5-E66E-4749-8D3A-655388B1EB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2273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54E49F-5C3A-ED4E-A68A-CCB3AA3B5D59}" type="datetimeFigureOut">
              <a:rPr lang="en-US" smtClean="0"/>
              <a:t>8/5/2020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F8CB49-A7FB-5E4A-B599-DE21181351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24141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68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36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04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872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340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808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275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744" algn="l" defTabSz="12189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80165" y="2474260"/>
            <a:ext cx="6437455" cy="996522"/>
          </a:xfrm>
          <a:ln>
            <a:noFill/>
          </a:ln>
        </p:spPr>
        <p:txBody>
          <a:bodyPr anchor="b" anchorCtr="0"/>
          <a:lstStyle>
            <a:lvl1pPr algn="r">
              <a:defRPr sz="3800"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D45AC-B80D-4805-BA4C-8776489E8022}"/>
              </a:ext>
            </a:extLst>
          </p:cNvPr>
          <p:cNvSpPr/>
          <p:nvPr userDrawn="1"/>
        </p:nvSpPr>
        <p:spPr>
          <a:xfrm>
            <a:off x="9411530" y="6331942"/>
            <a:ext cx="2777297" cy="526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893" tIns="60947" rIns="121893" bIns="60947"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ACBDA27-1F54-4C50-8D76-28815B58BDC3}"/>
              </a:ext>
            </a:extLst>
          </p:cNvPr>
          <p:cNvCxnSpPr/>
          <p:nvPr userDrawn="1"/>
        </p:nvCxnSpPr>
        <p:spPr>
          <a:xfrm>
            <a:off x="7552849" y="2666723"/>
            <a:ext cx="0" cy="835152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EB7A8E4-4917-4A3E-8E2F-D070BB4D10DE}"/>
              </a:ext>
            </a:extLst>
          </p:cNvPr>
          <p:cNvSpPr txBox="1"/>
          <p:nvPr userDrawn="1"/>
        </p:nvSpPr>
        <p:spPr>
          <a:xfrm>
            <a:off x="4067363" y="3799832"/>
            <a:ext cx="7411397" cy="387772"/>
          </a:xfrm>
          <a:prstGeom prst="rect">
            <a:avLst/>
          </a:prstGeom>
          <a:noFill/>
        </p:spPr>
        <p:txBody>
          <a:bodyPr wrap="none" lIns="121893" tIns="60947" rIns="121893" bIns="60947" rtlCol="0">
            <a:spAutoFit/>
          </a:bodyPr>
          <a:lstStyle/>
          <a:p>
            <a:pPr algn="r"/>
            <a:r>
              <a:rPr lang="en-US" sz="1720" dirty="0">
                <a:solidFill>
                  <a:srgbClr val="1D9CE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 Leading Provider of Smart, Connected and Secure Embedded Control Solutions 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ACBDA27-1F54-4C50-8D76-28815B58BDC3}"/>
              </a:ext>
            </a:extLst>
          </p:cNvPr>
          <p:cNvCxnSpPr/>
          <p:nvPr userDrawn="1"/>
        </p:nvCxnSpPr>
        <p:spPr>
          <a:xfrm flipH="1">
            <a:off x="3410606" y="3724987"/>
            <a:ext cx="7909168" cy="0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599BB76E-0E67-7C41-9AEC-8C75006E44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35143" y="6123667"/>
            <a:ext cx="6419850" cy="252110"/>
          </a:xfrm>
          <a:prstGeom prst="rect">
            <a:avLst/>
          </a:prstGeom>
        </p:spPr>
        <p:txBody>
          <a:bodyPr lIns="182880" tIns="0" rIns="0" anchor="t" anchorCtr="0">
            <a:noAutofit/>
          </a:bodyPr>
          <a:lstStyle>
            <a:lvl1pPr marL="0" indent="0" algn="r">
              <a:buNone/>
              <a:defRPr sz="2200" b="0">
                <a:solidFill>
                  <a:srgbClr val="1D9CE4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B2D92EAD-7B52-0549-B90C-8F01DFF1E6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35142" y="5763412"/>
            <a:ext cx="6420245" cy="314325"/>
          </a:xfrm>
          <a:prstGeom prst="rect">
            <a:avLst/>
          </a:prstGeom>
        </p:spPr>
        <p:txBody>
          <a:bodyPr rIns="0" bIns="0" anchor="b" anchorCtr="0">
            <a:noAutofit/>
          </a:bodyPr>
          <a:lstStyle>
            <a:lvl1pPr marL="0" indent="0" algn="r">
              <a:lnSpc>
                <a:spcPts val="2340"/>
              </a:lnSpc>
              <a:buNone/>
              <a:defRPr sz="22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Presented by</a:t>
            </a:r>
          </a:p>
        </p:txBody>
      </p:sp>
      <p:pic>
        <p:nvPicPr>
          <p:cNvPr id="10" name="Picture 9" descr="SCS-015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55" y="5139766"/>
            <a:ext cx="1630420" cy="1630420"/>
          </a:xfrm>
          <a:prstGeom prst="rect">
            <a:avLst/>
          </a:prstGeom>
        </p:spPr>
      </p:pic>
      <p:pic>
        <p:nvPicPr>
          <p:cNvPr id="12" name="Picture 11" descr="MCHP-logo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621" y="2635935"/>
            <a:ext cx="3584711" cy="90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37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10606" y="2034289"/>
            <a:ext cx="7909168" cy="1591386"/>
          </a:xfrm>
        </p:spPr>
        <p:txBody>
          <a:bodyPr anchor="b" anchorCtr="0"/>
          <a:lstStyle>
            <a:lvl1pPr algn="r">
              <a:defRPr sz="5300" b="1" cap="none" baseline="0"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410606" y="3824300"/>
            <a:ext cx="7909168" cy="1018627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r">
              <a:buNone/>
              <a:defRPr sz="2700" b="0">
                <a:solidFill>
                  <a:srgbClr val="1D9CE4"/>
                </a:solidFill>
              </a:defRPr>
            </a:lvl1pPr>
            <a:lvl2pPr marL="60944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328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771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21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656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09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541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Subtitle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1D51101-8690-2A4A-89F5-D13814AF99A1}"/>
              </a:ext>
            </a:extLst>
          </p:cNvPr>
          <p:cNvCxnSpPr/>
          <p:nvPr userDrawn="1"/>
        </p:nvCxnSpPr>
        <p:spPr>
          <a:xfrm flipH="1">
            <a:off x="3410606" y="3724987"/>
            <a:ext cx="7909168" cy="0"/>
          </a:xfrm>
          <a:prstGeom prst="line">
            <a:avLst/>
          </a:prstGeom>
          <a:ln w="12700" cmpd="sng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388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AEC6540-64C7-9747-877E-6D8504F5D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777240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86DAD2F-D448-354C-9ACF-03ED78E9AF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4778" y="923073"/>
            <a:ext cx="11400660" cy="5385963"/>
          </a:xfrm>
          <a:prstGeom prst="rect">
            <a:avLst/>
          </a:prstGeom>
        </p:spPr>
        <p:txBody>
          <a:bodyPr/>
          <a:lstStyle>
            <a:lvl1pPr marL="274201" indent="-274201">
              <a:defRPr sz="3200"/>
            </a:lvl1pPr>
            <a:lvl2pPr marL="576072" indent="-274320">
              <a:defRPr sz="2800"/>
            </a:lvl2pPr>
            <a:lvl3pPr marL="868680" indent="-274320">
              <a:defRPr sz="2400"/>
            </a:lvl3pPr>
            <a:lvl4pPr marL="1143000" indent="-274320">
              <a:defRPr sz="2000"/>
            </a:lvl4pPr>
            <a:lvl5pPr marL="1435608" indent="-274320"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8344651-9BC3-804A-ABEF-ABD80FF3CE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303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9BB9-8088-1B4E-AA38-17BC94EF1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5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5F3DB77-FEA1-E44C-9C5F-88B2D4B5D2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rgbClr val="1D9CE4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955162B4-304F-5841-8C1A-37D23DCFC92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403852"/>
            <a:ext cx="11400660" cy="490518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C4207E9-C13E-1647-9F09-C18700780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0774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955162B4-304F-5841-8C1A-37D23DCFC92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626375"/>
            <a:ext cx="11400660" cy="4664076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98AAA9D-2041-3B4F-8508-758963B79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1489280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A6C8C-5670-1242-B987-55F42BAD97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29715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14ABC63-0F02-3D4C-B5A8-224D9EF0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2EFF8C43-59A6-4644-B04E-6AE187BD55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929269"/>
            <a:ext cx="5505846" cy="5374679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69F5C3FF-72D2-604B-A6AF-63E081CA68F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0324" y="929270"/>
            <a:ext cx="5505846" cy="5374678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872A14E-E83F-9541-B766-352B85366E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026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14ABC63-0F02-3D4C-B5A8-224D9EF04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F0C5114-81F0-6D40-9DA2-1EA66CC7C6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rgbClr val="1D9CE4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4354C555-752C-5946-99B7-1752C8A6C9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2454" y="1408545"/>
            <a:ext cx="5505846" cy="490779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B1B5C683-E8CE-5447-B10F-1FA96B9838C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0324" y="1408546"/>
            <a:ext cx="5505846" cy="490779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9F735E5-BB03-E141-8FE5-6E137A04C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40959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7" y="923075"/>
            <a:ext cx="5474569" cy="567713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i="0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385192" y="941660"/>
            <a:ext cx="5387630" cy="56771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898E04-A14A-8140-993E-87174E0C2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5170BFA0-6B7E-2944-A49D-35B39ABC44C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561175"/>
            <a:ext cx="5474567" cy="4795020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C883CD4E-1B81-AF4E-B076-F6C9C7DA169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5193" y="1561175"/>
            <a:ext cx="5387630" cy="4795019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2902E3F-7B87-844B-A375-55F0B513465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07310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9" y="1381004"/>
            <a:ext cx="5474569" cy="580605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85192" y="1381003"/>
            <a:ext cx="5387630" cy="580606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800" b="1" u="sng">
                <a:solidFill>
                  <a:schemeClr val="accent1"/>
                </a:solidFill>
              </a:defRPr>
            </a:lvl1pPr>
            <a:lvl2pPr marL="609443" indent="0">
              <a:buNone/>
              <a:defRPr sz="2700" b="1"/>
            </a:lvl2pPr>
            <a:lvl3pPr marL="1218885" indent="0">
              <a:buNone/>
              <a:defRPr sz="2400" b="1"/>
            </a:lvl3pPr>
            <a:lvl4pPr marL="1828328" indent="0">
              <a:buNone/>
              <a:defRPr sz="2100" b="1"/>
            </a:lvl4pPr>
            <a:lvl5pPr marL="2437771" indent="0">
              <a:buNone/>
              <a:defRPr sz="2100" b="1"/>
            </a:lvl5pPr>
            <a:lvl6pPr marL="3047213" indent="0">
              <a:buNone/>
              <a:defRPr sz="2100" b="1"/>
            </a:lvl6pPr>
            <a:lvl7pPr marL="3656656" indent="0">
              <a:buNone/>
              <a:defRPr sz="2100" b="1"/>
            </a:lvl7pPr>
            <a:lvl8pPr marL="4266097" indent="0">
              <a:buNone/>
              <a:defRPr sz="2100" b="1"/>
            </a:lvl8pPr>
            <a:lvl9pPr marL="4875541" indent="0">
              <a:buNone/>
              <a:defRPr sz="21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22C09BD-60A2-D244-8F4B-695A12274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7"/>
            <a:ext cx="11400661" cy="777240"/>
          </a:xfrm>
        </p:spPr>
        <p:txBody>
          <a:bodyPr/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E1D56C46-C13D-6843-8D78-E9DE559D36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31986"/>
            <a:ext cx="11400661" cy="42862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E56A8-D17E-8848-8C5B-EC8D2FC7921A}"/>
              </a:ext>
            </a:extLst>
          </p:cNvPr>
          <p:cNvSpPr/>
          <p:nvPr userDrawn="1"/>
        </p:nvSpPr>
        <p:spPr>
          <a:xfrm>
            <a:off x="10436087" y="6490880"/>
            <a:ext cx="129209" cy="19815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Content Placeholder 12">
            <a:extLst>
              <a:ext uri="{FF2B5EF4-FFF2-40B4-BE49-F238E27FC236}">
                <a16:creationId xmlns:a16="http://schemas.microsoft.com/office/drawing/2014/main" id="{61902A9B-4EBD-9042-9417-398D31C80D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55509" y="1988634"/>
            <a:ext cx="5474567" cy="432770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2">
            <a:extLst>
              <a:ext uri="{FF2B5EF4-FFF2-40B4-BE49-F238E27FC236}">
                <a16:creationId xmlns:a16="http://schemas.microsoft.com/office/drawing/2014/main" id="{326E65A8-182F-624C-B231-E6CD084CC0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85193" y="1988634"/>
            <a:ext cx="5387630" cy="4327704"/>
          </a:xfrm>
          <a:prstGeom prst="rect">
            <a:avLst/>
          </a:prstGeom>
        </p:spPr>
        <p:txBody>
          <a:bodyPr/>
          <a:lstStyle>
            <a:lvl1pPr marL="274201" indent="-274201">
              <a:defRPr/>
            </a:lvl1pPr>
            <a:lvl2pPr marL="576072" indent="-274320">
              <a:defRPr/>
            </a:lvl2pPr>
            <a:lvl3pPr marL="868680" indent="-274320">
              <a:defRPr/>
            </a:lvl3pPr>
            <a:lvl4pPr marL="1143000" indent="-274320">
              <a:defRPr/>
            </a:lvl4pPr>
            <a:lvl5pPr marL="1435608" indent="-2743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985913B-9067-5E4F-BEB8-B40B0526CDD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6731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B3394856-2C64-DE43-BBDF-953266084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1600406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E56F0-37A2-F74C-BB25-DF51CEB5F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02120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E966262-8B36-DB45-BCFF-E847EDF91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09" y="96295"/>
            <a:ext cx="11400661" cy="777240"/>
          </a:xfrm>
        </p:spPr>
        <p:txBody>
          <a:bodyPr/>
          <a:lstStyle>
            <a:lvl1pPr>
              <a:defRPr>
                <a:solidFill>
                  <a:srgbClr val="0E3689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614E39-BA14-7D4B-8328-2FB5286D32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8603" y="829115"/>
            <a:ext cx="11400661" cy="42862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 b="1" kern="0" dirty="0">
                <a:solidFill>
                  <a:srgbClr val="45A8C4"/>
                </a:solidFill>
                <a:latin typeface="+mn-lt"/>
                <a:cs typeface="Calibri"/>
              </a:rPr>
              <a:t>Subtitle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06521-0BA2-7C48-8CAD-8B9AFEEF68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4943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7EDE752C-4DF4-1741-BE5B-60F47530E2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</p:spTree>
    <p:extLst>
      <p:ext uri="{BB962C8B-B14F-4D97-AF65-F5344CB8AC3E}">
        <p14:creationId xmlns:p14="http://schemas.microsoft.com/office/powerpoint/2010/main" val="778931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CHP-logo.jp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3436" y="6396138"/>
            <a:ext cx="1447127" cy="36444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5509" y="96296"/>
            <a:ext cx="11400661" cy="942795"/>
          </a:xfrm>
          <a:prstGeom prst="rect">
            <a:avLst/>
          </a:prstGeom>
        </p:spPr>
        <p:txBody>
          <a:bodyPr vert="horz" lIns="121888" tIns="60944" rIns="121888" bIns="60944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5509" y="1039091"/>
            <a:ext cx="11400661" cy="5412311"/>
          </a:xfrm>
          <a:prstGeom prst="rect">
            <a:avLst/>
          </a:prstGeom>
        </p:spPr>
        <p:txBody>
          <a:bodyPr vert="horz" lIns="121888" tIns="60944" rIns="121888" bIns="60944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2589C74-EF87-2646-A562-5428C2FBE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4514" y="6479339"/>
            <a:ext cx="3859795" cy="233968"/>
          </a:xfrm>
          <a:prstGeom prst="rect">
            <a:avLst/>
          </a:prstGeom>
        </p:spPr>
        <p:txBody>
          <a:bodyPr vert="horz" lIns="121888" tIns="60944" rIns="121888" bIns="60944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Microchip Proprietary and Confidential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167033" y="6495408"/>
            <a:ext cx="539496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fld id="{3A89BA97-E076-0C46-96C3-2C5079BFCB08}" type="slidenum">
              <a:rPr lang="en-US" sz="1300" smtClean="0">
                <a:solidFill>
                  <a:schemeClr val="bg1">
                    <a:lumMod val="50000"/>
                  </a:schemeClr>
                </a:solidFill>
              </a:rPr>
              <a:pPr algn="l"/>
              <a:t>‹#›</a:t>
            </a:fld>
            <a:endParaRPr lang="en-US" sz="13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6979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6" r:id="rId4"/>
    <p:sldLayoutId id="2147483660" r:id="rId5"/>
    <p:sldLayoutId id="2147483652" r:id="rId6"/>
    <p:sldLayoutId id="2147483657" r:id="rId7"/>
    <p:sldLayoutId id="2147483653" r:id="rId8"/>
    <p:sldLayoutId id="2147483658" r:id="rId9"/>
    <p:sldLayoutId id="2147483654" r:id="rId10"/>
    <p:sldLayoutId id="2147483659" r:id="rId11"/>
    <p:sldLayoutId id="2147483655" r:id="rId12"/>
  </p:sldLayoutIdLst>
  <p:hf hdr="0" ftr="0" dt="0"/>
  <p:txStyles>
    <p:titleStyle>
      <a:lvl1pPr algn="l" defTabSz="609443" rtl="0" eaLnBrk="1" latinLnBrk="0" hangingPunct="1">
        <a:lnSpc>
          <a:spcPct val="100000"/>
        </a:lnSpc>
        <a:spcBef>
          <a:spcPct val="0"/>
        </a:spcBef>
        <a:buNone/>
        <a:defRPr sz="4400" b="1" kern="1200" normalizeH="0" baseline="0">
          <a:solidFill>
            <a:srgbClr val="0E3689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609443" rtl="0" eaLnBrk="1" latinLnBrk="0" hangingPunct="1">
        <a:spcBef>
          <a:spcPts val="300"/>
        </a:spcBef>
        <a:buClr>
          <a:srgbClr val="0E3689"/>
        </a:buClr>
        <a:buFont typeface="Arial"/>
        <a:buChar char="•"/>
        <a:defRPr sz="3200" b="1" kern="1200">
          <a:solidFill>
            <a:srgbClr val="070707"/>
          </a:solidFill>
          <a:latin typeface="+mn-lt"/>
          <a:ea typeface="+mn-ea"/>
          <a:cs typeface="+mn-cs"/>
        </a:defRPr>
      </a:lvl1pPr>
      <a:lvl2pPr marL="576072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800" kern="1200">
          <a:solidFill>
            <a:srgbClr val="070707"/>
          </a:solidFill>
          <a:latin typeface="+mn-lt"/>
          <a:ea typeface="+mn-ea"/>
          <a:cs typeface="+mn-cs"/>
        </a:defRPr>
      </a:lvl2pPr>
      <a:lvl3pPr marL="868680" indent="-274320" algn="l" defTabSz="609443" rtl="0" eaLnBrk="1" latinLnBrk="0" hangingPunct="1">
        <a:spcBef>
          <a:spcPts val="300"/>
        </a:spcBef>
        <a:buClr>
          <a:srgbClr val="1D9CE4"/>
        </a:buClr>
        <a:buFont typeface="Arial"/>
        <a:buChar char="•"/>
        <a:defRPr sz="2400" kern="1200">
          <a:solidFill>
            <a:srgbClr val="070707"/>
          </a:solidFill>
          <a:latin typeface="+mn-lt"/>
          <a:ea typeface="+mn-ea"/>
          <a:cs typeface="+mn-cs"/>
        </a:defRPr>
      </a:lvl3pPr>
      <a:lvl4pPr marL="1143000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000" kern="1200">
          <a:solidFill>
            <a:srgbClr val="070707"/>
          </a:solidFill>
          <a:latin typeface="+mn-lt"/>
          <a:ea typeface="+mn-ea"/>
          <a:cs typeface="+mn-cs"/>
        </a:defRPr>
      </a:lvl4pPr>
      <a:lvl5pPr marL="1435608" indent="-274320" algn="l" defTabSz="609443" rtl="0" eaLnBrk="1" latinLnBrk="0" hangingPunct="1">
        <a:spcBef>
          <a:spcPts val="300"/>
        </a:spcBef>
        <a:buClr>
          <a:srgbClr val="1D9CE4"/>
        </a:buClr>
        <a:buFont typeface="Arial" panose="020B0604020202020204" pitchFamily="34" charset="0"/>
        <a:buChar char="•"/>
        <a:defRPr sz="2000" kern="1200">
          <a:solidFill>
            <a:srgbClr val="070707"/>
          </a:solidFill>
          <a:latin typeface="+mn-lt"/>
          <a:ea typeface="+mn-ea"/>
          <a:cs typeface="+mn-cs"/>
        </a:defRPr>
      </a:lvl5pPr>
      <a:lvl6pPr marL="3351933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376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19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261" indent="-304723" algn="l" defTabSz="609443" rtl="0" eaLnBrk="1" latinLnBrk="0" hangingPunct="1">
        <a:spcBef>
          <a:spcPct val="20000"/>
        </a:spcBef>
        <a:buFont typeface="Arial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43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885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28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71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13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56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097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41" algn="l" defTabSz="609443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9" userDrawn="1">
          <p15:clr>
            <a:srgbClr val="F26B43"/>
          </p15:clr>
        </p15:guide>
        <p15:guide id="2" pos="16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Automated Build, Flash &amp;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 CLI- and logic-analyzer-driven workflow on the PIC16F13145 Curiosity Nano</a:t>
            </a:r>
          </a:p>
          <a:p>
            <a:r>
              <a:t>Martin Ruppert | Microchip</a:t>
            </a:r>
          </a:p>
          <a:p>
            <a:r>
              <a:t>2026-06-14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>
                <a:solidFill>
                  <a:srgbClr val="0B2E4F"/>
                </a:solidFill>
              </a:rPr>
              <a:t>Firmware — a UART console controlling two hardware PWM channels</a:t>
            </a:r>
          </a:p>
          <a:p>
            <a:pPr lvl="1"/>
            <a:r>
              <a:rPr sz="1600">
                <a:solidFill>
                  <a:srgbClr val="0B2E4F"/>
                </a:solidFill>
              </a:rPr>
              <a:t>PIC16F13145 Curiosity Nano, PWM1-&gt;RC0, PWM2-&gt;RC1 (Timer2)</a:t>
            </a:r>
          </a:p>
          <a:p>
            <a:pPr lvl="1"/>
            <a:r>
              <a:rPr sz="1600">
                <a:solidFill>
                  <a:srgbClr val="0B2E4F"/>
                </a:solidFill>
              </a:rPr>
              <a:t>Commands: help / version / reset / pulse freq|duty|on|off|status</a:t>
            </a:r>
          </a:p>
          <a:p>
            <a:pPr lvl="1"/>
            <a:r>
              <a:rPr sz="1600">
                <a:solidFill>
                  <a:srgbClr val="0B2E4F"/>
                </a:solidFill>
              </a:rPr>
              <a:t>Line editor with cursor, mid-line edit and 10-command history</a:t>
            </a:r>
          </a:p>
          <a:p>
            <a:pPr lvl="1"/>
            <a:r>
              <a:rPr sz="1600">
                <a:solidFill>
                  <a:srgbClr val="0B2E4F"/>
                </a:solidFill>
              </a:rPr>
              <a:t>Build-timestamp banner identifies the running firmware</a:t>
            </a:r>
          </a:p>
          <a:p>
            <a:pPr/>
            <a:r>
              <a:rPr sz="1800">
                <a:solidFill>
                  <a:srgbClr val="0B2E4F"/>
                </a:solidFill>
              </a:rPr>
              <a:t>Tooling — the whole loop runs from the command line</a:t>
            </a:r>
          </a:p>
          <a:p>
            <a:pPr lvl="1"/>
            <a:r>
              <a:rPr sz="1600">
                <a:solidFill>
                  <a:srgbClr val="0B2E4F"/>
                </a:solidFill>
              </a:rPr>
              <a:t>build.bat (CMake+Ninja+XC8), flash.py (MPLAB MDB)</a:t>
            </a:r>
          </a:p>
          <a:p>
            <a:pPr lvl="1"/>
            <a:r>
              <a:rPr sz="1600">
                <a:solidFill>
                  <a:srgbClr val="0B2E4F"/>
                </a:solidFill>
              </a:rPr>
              <a:t>smoketest.py, freq_sweep.py, duty_sweep.py (Saleae-verified)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Manual vs. Automated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71600"/>
            <a:ext cx="11475720" cy="45720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1">
                <a:solidFill>
                  <a:srgbClr val="0B2E4F"/>
                </a:solidFill>
              </a:rPr>
              <a:t>The same edit-build-flash-measure loop, by hand versus one command.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965960"/>
            <a:ext cx="5669280" cy="50292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Manual (IDE + scope by eye)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65960"/>
            <a:ext cx="5669280" cy="502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Automated (CLI + logic analyzer)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560320"/>
            <a:ext cx="5577840" cy="3063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Click Build, click Program in the IDE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Open a terminal, type commands by hand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Read a scope, eyeball frequency and duty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Slow, subjective, not repeatable, no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560320"/>
            <a:ext cx="5577840" cy="3063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build.bat -&gt; flash.py -&gt; smoketest.py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Host scripts drive the console over USB CDC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Saleae measures the real pins; pass/fail in code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Fast, objective, reproducible, CSV + plots archived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760720"/>
            <a:ext cx="11612880" cy="59436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1">
                <a:solidFill>
                  <a:srgbClr val="0B2E4F"/>
                </a:solidFill>
              </a:rPr>
              <a:t>One scripted pipeline replaces a dozen manual clicks and a pair of eyes.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Automated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737360"/>
            <a:ext cx="277749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1. Build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34690" y="1737360"/>
            <a:ext cx="2777490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2. Flash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49340" y="1737360"/>
            <a:ext cx="2777490" cy="155448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3.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63990" y="1737360"/>
            <a:ext cx="2777490" cy="155448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4. Verify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97530" y="2514600"/>
            <a:ext cx="1371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12180" y="2514600"/>
            <a:ext cx="1371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26830" y="2514600"/>
            <a:ext cx="137160" cy="0"/>
          </a:xfrm>
          <a:prstGeom prst="bentConnector3">
            <a:avLst/>
          </a:prstGeom>
          <a:ln w="381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0040" y="3383279"/>
            <a:ext cx="277749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55555"/>
                </a:solidFill>
              </a:rPr>
              <a:t>build.bat drives the CMake preset + Ninja with the XC8 toolchain.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4690" y="3383279"/>
            <a:ext cx="277749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55555"/>
                </a:solidFill>
              </a:rPr>
              <a:t>flash.py drives the MPLAB MDB to program the HEX over ICSP.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9340" y="3383279"/>
            <a:ext cx="277749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55555"/>
                </a:solidFill>
              </a:rPr>
              <a:t>The target boots and exposes its CLI over the virtual COM 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3990" y="3383279"/>
            <a:ext cx="277749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55555"/>
                </a:solidFill>
              </a:rPr>
              <a:t>Host scripts set PWM via the CLI and measure it with the Saleae.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577840"/>
            <a:ext cx="11521440" cy="7315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Edit a line of C and one command later you have a pass/fail with plots.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Build from the CLI — build.bat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371600"/>
            <a:ext cx="11430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B2E4F"/>
                </a:solidFill>
                <a:latin typeface="Consolas"/>
              </a:rPr>
              <a:t>build.bat            :: configure (if needed) + build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build.bat rebuild    :: clean, then build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build.bat clean      :: remove build tree + output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=== Build finished ===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Output: out\Loop\default.elf  (+ default.hex)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Program space  76.0%   Data space  75.7%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2120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Wraps the generated CMake preset and Ninja — no IDE needed.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XC8 is referenced by absolute path, so it need not be on PATH.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Returns a non-zero exit code on failure — CI-friendly.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Flash from the CLI — flash.py (MPLAB MDB)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371600"/>
            <a:ext cx="11430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B2E4F"/>
                </a:solidFill>
                <a:latin typeface="Consolas"/>
              </a:rPr>
              <a:t>python flash.py          # program out\Loop\default.hex, then run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python flash.py --list   # list detected debuggers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[LOOP] MDB &lt;&lt; program "out\Loop\default.hex"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[LOOP] MDB &gt;&gt; Program succeeded.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[LOOP] SUCCESS: Device programmed; target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2120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Drives mdb.bat (Microchip Debugger Backend) as a subprocess.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Auto-selects the on-board pkobnano debugger and programs over ICSP.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Releases the target so it runs immediately — no IDE in the loop.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Hardware-in-the-Loop Test Setup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645920"/>
            <a:ext cx="1767840" cy="10058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PIC16F13145
RC0 / RC1 PWM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70760" y="1645920"/>
            <a:ext cx="1767840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Saleae Logic 8
ch0 / ch1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21480" y="1645920"/>
            <a:ext cx="1767840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Logic 2
automation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1767840" cy="100584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digital.csv
raw export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2920" y="1645920"/>
            <a:ext cx="1767840" cy="10058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Python
edge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3640" y="1645920"/>
            <a:ext cx="1767840" cy="10058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PASS / FAIL
+ plot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7880" y="2148840"/>
            <a:ext cx="18288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38600" y="2148840"/>
            <a:ext cx="18288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89320" y="2148840"/>
            <a:ext cx="18288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940040" y="2148840"/>
            <a:ext cx="18288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90760" y="2148840"/>
            <a:ext cx="18288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10896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Measurement path: the PWM pins are sampled directly by the analyzer.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Control path: commands go to the CLI over USB CDC (COM12).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One host process orchestrates both the serial console and the capture.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CLI Under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371600"/>
            <a:ext cx="11430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B2E4F"/>
                </a:solidFill>
                <a:latin typeface="Consolas"/>
              </a:rPr>
              <a:t>&gt; version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Loop firmware | build Jun 14 2026 00:13:01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&gt; pulse freq 9600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Frequency -&gt; 9615.384 Hz (requested 9600)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&gt; pulse a duty 33.3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Duty A -&gt; 33.293 % (requested 33.3)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&gt; pulse a on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Signal A -&gt; ON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&gt; pulse status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Frequency = 9615.384 Hz (shared)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A (RC0): ON, duty 33.293 %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2120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Floating-point input; the device echoes the quantised actual value.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Scripts parse these replies as the expected reference for each test.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Verify — smoketest.py drives CLI + Saleae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371600"/>
            <a:ext cx="11430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B2E4F"/>
                </a:solidFill>
                <a:latin typeface="Consolas"/>
              </a:rPr>
              <a:t>console.cmd(f"pulse freq {f}")      # set via the CLI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console.cmd(f"pulse a duty {da}")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console.cmd("pulse a on")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cap = manager.start_capture(...)    # Saleae timed capture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cap.export_raw_data_csv(out_dir)    # -&gt; digital.csv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m = analyze_digital_csv("digital.csv", ch=0)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assert abs(m.freq - f) &lt; f * 0.03   # 3% (HFINTOSC)</a:t>
            </a:r>
          </a:p>
          <a:p>
            <a:r>
              <a:rPr sz="1300">
                <a:solidFill>
                  <a:srgbClr val="0B2E4F"/>
                </a:solidFill>
                <a:latin typeface="Consolas"/>
              </a:rPr>
              <a:t>assert abs(m.duty - da) &lt; 2.0       # 2 percentage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2120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Frequency from the median of rising-edge intervals.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Duty from high-time / period; a disabled channel must read 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Smoke-Test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253746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Test cases
4/4 PASS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1859" y="1737360"/>
            <a:ext cx="253746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Freq deviation
&lt; 0.5 %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737360"/>
            <a:ext cx="253746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Duty deviation
&lt; 0.05 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75419" y="1737360"/>
            <a:ext cx="2537460" cy="164592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Verdict
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solidFill>
                  <a:srgbClr val="0B2E4F"/>
                </a:solidFill>
              </a:rPr>
              <a:t>• Cases: 1 kHz, 5 kHz, 20 kHz at various duties + one disabled channel.</a:t>
            </a:r>
          </a:p>
          <a:p>
            <a:pPr/>
            <a:r>
              <a:rPr sz="1500">
                <a:solidFill>
                  <a:srgbClr val="0B2E4F"/>
                </a:solidFill>
              </a:rPr>
              <a:t>• Measured duty matched the firmware's quantised values exactly.</a:t>
            </a:r>
          </a:p>
          <a:p>
            <a:pPr/>
            <a:r>
              <a:rPr sz="1500">
                <a:solidFill>
                  <a:srgbClr val="0B2E4F"/>
                </a:solidFill>
              </a:rPr>
              <a:t>• Frequency offset is the internal HFINTOSC (+/-2%), well inside tolerance.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Frequency Sweep — Saleae-Verified</a:t>
            </a:r>
          </a:p>
        </p:txBody>
      </p:sp>
      <p:pic>
        <p:nvPicPr>
          <p:cNvPr id="3" name="Picture 2" descr="freq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1325880"/>
            <a:ext cx="4470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12064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Every requested frequency is set, captured and measured on RC0.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Top: requested vs. measured (on the ideal line). Bottom: deviation.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Deviation = quantisation of the integer Timer2 divider (&lt; 0.5%).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Duty-Cycle Sweep across Frequencies</a:t>
            </a:r>
          </a:p>
        </p:txBody>
      </p:sp>
      <p:pic>
        <p:nvPicPr>
          <p:cNvPr id="3" name="Picture 2" descr="duty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1325880"/>
            <a:ext cx="4470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12064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Duty 0..100% swept at 1 / 10 / 50 kHz, each point Saleae-measured.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Resolution (4*N steps) gets coarser as the frequency rises.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Dots = measured, x = firmware-reported quantisation.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Interpreting the Results — Quantisation vs. the Real World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71600"/>
            <a:ext cx="11475720" cy="45720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1">
                <a:solidFill>
                  <a:srgbClr val="0B2E4F"/>
                </a:solidFill>
              </a:rPr>
              <a:t>Two deviations per point — firmware vs. requested = quantisation; measured vs. firmware = oscillator + measurement.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965960"/>
            <a:ext cx="5669280" cy="50292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Frequency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65960"/>
            <a:ext cx="5669280" cy="50292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Duty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560320"/>
            <a:ext cx="5577840" cy="3063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Firmware vs. requested = integer-divider quantisation (15321 -&gt; 15267 Hz)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Measured vs. firmware = a consistent -0.1...-0.15 %</a:t>
            </a:r>
          </a:p>
          <a:p>
            <a:pPr lvl="1"/>
            <a:r>
              <a:rPr sz="1200">
                <a:solidFill>
                  <a:srgbClr val="0B2E4F"/>
                </a:solidFill>
              </a:rPr>
              <a:t>– That offset is the HFINTOSC running slightly slow (inside its +/-2 % spec)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Saleae is accurate here: per-edge +/-100 ns averages over many cycles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It only limits above ~100-200 kHz, as samples/period approach the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560320"/>
            <a:ext cx="5577840" cy="3063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Firmware quantises to 4N steps — at 50 kHz that is 0.156 pp/step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Saleae duty resolution = frequency / sample_rate (one sample per period)</a:t>
            </a:r>
          </a:p>
          <a:p>
            <a:pPr lvl="1"/>
            <a:r>
              <a:rPr sz="1200">
                <a:solidFill>
                  <a:srgbClr val="0B2E4F"/>
                </a:solidFill>
              </a:rPr>
              <a:t>– 50 kHz @ 10 MS/s -&gt; 0.5 pp, coarser than the firmware's step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So measured != firmware at 1 % / 99 % is a measurement limit, not a fault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Fix: raise --sample-rate to 25-50 MS/s -&gt; &gt;=1000 samples/period again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760720"/>
            <a:ext cx="11612880" cy="594360"/>
          </a:xfrm>
          <a:prstGeom prst="roundRect">
            <a:avLst/>
          </a:prstGeom>
          <a:solidFill>
            <a:srgbClr val="E8EEF5"/>
          </a:solidFill>
          <a:ln>
            <a:solidFill>
              <a:srgbClr val="E8EE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 i="1">
                <a:solidFill>
                  <a:srgbClr val="0B2E4F"/>
                </a:solidFill>
              </a:rPr>
              <a:t>The only real analogue error is the HFINTOSC (~-0.1 %); the Saleae is the bottleneck only for duty at high frequency.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run_ci.py — One Command, One HTML Protocol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645920"/>
            <a:ext cx="2157984" cy="1005840"/>
          </a:xfrm>
          <a:prstGeom prst="roundRect">
            <a:avLst/>
          </a:prstGeom>
          <a:solidFill>
            <a:srgbClr val="2CA02C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build.bat
XC8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0904" y="1645920"/>
            <a:ext cx="2157984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flash.py
MDB / ICSP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1768" y="1645920"/>
            <a:ext cx="2157984" cy="1005840"/>
          </a:xfrm>
          <a:prstGeom prst="roundRect">
            <a:avLst/>
          </a:prstGeom>
          <a:solidFill>
            <a:srgbClr val="1F77B4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regression.py
serial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42631" y="1645920"/>
            <a:ext cx="2157984" cy="1005840"/>
          </a:xfrm>
          <a:prstGeom prst="roundRect">
            <a:avLst/>
          </a:prstGeom>
          <a:solidFill>
            <a:srgbClr val="D62728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smoketest.py
Saleae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83496" y="1645920"/>
            <a:ext cx="2157984" cy="1005840"/>
          </a:xfrm>
          <a:prstGeom prst="roundRect">
            <a:avLst/>
          </a:prstGeom>
          <a:solidFill>
            <a:srgbClr val="0B2E4F"/>
          </a:solidFill>
          <a:ln>
            <a:solidFill>
              <a:srgbClr val="0B2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report.html
PASS / FAIL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78024" y="2148840"/>
            <a:ext cx="18288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18888" y="2148840"/>
            <a:ext cx="182880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59752" y="2148840"/>
            <a:ext cx="182879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500615" y="2148840"/>
            <a:ext cx="182881" cy="0"/>
          </a:xfrm>
          <a:prstGeom prst="bentConnector3">
            <a:avLst/>
          </a:prstGeom>
          <a:ln w="254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310896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0B2E4F"/>
                </a:solidFill>
              </a:rPr>
              <a:t>• Serial regression (no instrument): input validation, line editor, RX-stress, reset.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Saleae smoke: frequency + duty on the pins, plus duty-held-across-frequency.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One self-contained report.html: overall verdict, every check, build memory, firmware stamp.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Non-zero exit code on any failure -&gt; drops straight into a CI job.</a:t>
            </a:r>
          </a:p>
          <a:p>
            <a:pPr/>
            <a:r>
              <a:rPr sz="1300">
                <a:solidFill>
                  <a:srgbClr val="0B2E4F"/>
                </a:solidFill>
              </a:rPr>
              <a:t>• The regression suite already caught a real bug (pulse freq overflow accepted 9 MHz).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rPr sz="1800">
                <a:solidFill>
                  <a:srgbClr val="0B2E4F"/>
                </a:solidFill>
              </a:rPr>
              <a:t>The full edit -&gt; build -&gt; flash -&gt; verify loop is one scripted pipeline</a:t>
            </a:r>
          </a:p>
          <a:p>
            <a:pPr/>
            <a:r>
              <a:rPr sz="1800">
                <a:solidFill>
                  <a:srgbClr val="0B2E4F"/>
                </a:solidFill>
              </a:rPr>
              <a:t>A serial CLI makes the firmware controllable and observable from a host</a:t>
            </a:r>
          </a:p>
          <a:p>
            <a:pPr/>
            <a:r>
              <a:rPr sz="1800">
                <a:solidFill>
                  <a:srgbClr val="0B2E4F"/>
                </a:solidFill>
              </a:rPr>
              <a:t>A logic analyzer turns 'looks right' into a measured pass/fail</a:t>
            </a:r>
          </a:p>
          <a:p>
            <a:pPr/>
            <a:r>
              <a:rPr sz="1800">
                <a:solidFill>
                  <a:srgbClr val="0B2E4F"/>
                </a:solidFill>
              </a:rPr>
              <a:t>Logic 2 automation + CSV export = repeatable, archivable evidence</a:t>
            </a:r>
          </a:p>
          <a:p>
            <a:pPr/>
            <a:r>
              <a:rPr sz="1800">
                <a:solidFill>
                  <a:srgbClr val="0B2E4F"/>
                </a:solidFill>
              </a:rPr>
              <a:t>Everything is CI-ready: exit codes, CSV data and plots per run</a:t>
            </a:r>
          </a:p>
          <a:p>
            <a:pPr/>
            <a:r>
              <a:rPr sz="1800">
                <a:solidFill>
                  <a:srgbClr val="0B2E4F"/>
                </a:solidFill>
              </a:rPr>
              <a:t>Same pattern scales to any peripheral with an observable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03122020a">
      <a:dk1>
        <a:srgbClr val="0A0B0F"/>
      </a:dk1>
      <a:lt1>
        <a:srgbClr val="FFFFFF"/>
      </a:lt1>
      <a:dk2>
        <a:srgbClr val="FFFFFF"/>
      </a:dk2>
      <a:lt2>
        <a:srgbClr val="1D9CE5"/>
      </a:lt2>
      <a:accent1>
        <a:srgbClr val="0E3689"/>
      </a:accent1>
      <a:accent2>
        <a:srgbClr val="FD7F20"/>
      </a:accent2>
      <a:accent3>
        <a:srgbClr val="1D9CE4"/>
      </a:accent3>
      <a:accent4>
        <a:srgbClr val="5EBF33"/>
      </a:accent4>
      <a:accent5>
        <a:srgbClr val="702076"/>
      </a:accent5>
      <a:accent6>
        <a:srgbClr val="FFD53A"/>
      </a:accent6>
      <a:hlink>
        <a:srgbClr val="45A8C4"/>
      </a:hlink>
      <a:folHlink>
        <a:srgbClr val="45A8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Mod val="60000"/>
            <a:lumOff val="40000"/>
          </a:schemeClr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tent_x0020_Archived xmlns="df7acb31-37ac-40e2-81bb-c44e3630f613">false</Content_x0020_Archived>
    <_dlc_DocId xmlns="38ef598d-997c-498b-b737-2f6b2c50ccab">SV5CHKDEWJXD-84-133</_dlc_DocId>
    <_dlc_DocIdUrl xmlns="38ef598d-997c-498b-b737-2f6b2c50ccab">
      <Url>http://mchpweb-2010/marcom/home/Resources/_layouts/DocIdRedir.aspx?ID=SV5CHKDEWJXD-84-133</Url>
      <Description>SV5CHKDEWJXD-84-133</Description>
    </_dlc_DocIdUrl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6EF9829FE6FB94D84D3D1D5B1820991" ma:contentTypeVersion="2" ma:contentTypeDescription="Create a new document." ma:contentTypeScope="" ma:versionID="84d427fd2fb92a215479da5b0fe5e4ad">
  <xsd:schema xmlns:xsd="http://www.w3.org/2001/XMLSchema" xmlns:xs="http://www.w3.org/2001/XMLSchema" xmlns:p="http://schemas.microsoft.com/office/2006/metadata/properties" xmlns:ns2="38ef598d-997c-498b-b737-2f6b2c50ccab" xmlns:ns3="df7acb31-37ac-40e2-81bb-c44e3630f613" targetNamespace="http://schemas.microsoft.com/office/2006/metadata/properties" ma:root="true" ma:fieldsID="156788901a84a305ff90b9b24ba2d9fb" ns2:_="" ns3:_="">
    <xsd:import namespace="38ef598d-997c-498b-b737-2f6b2c50ccab"/>
    <xsd:import namespace="df7acb31-37ac-40e2-81bb-c44e3630f613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Content_x0020_Archive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ef598d-997c-498b-b737-2f6b2c50ccab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7acb31-37ac-40e2-81bb-c44e3630f613" elementFormDefault="qualified">
    <xsd:import namespace="http://schemas.microsoft.com/office/2006/documentManagement/types"/>
    <xsd:import namespace="http://schemas.microsoft.com/office/infopath/2007/PartnerControls"/>
    <xsd:element name="Content_x0020_Archived" ma:index="11" nillable="true" ma:displayName="Content Archived" ma:internalName="Content_x0020_Archived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15774815-801A-4D0C-AAC8-304A8EA5EAE0}">
  <ds:schemaRefs>
    <ds:schemaRef ds:uri="http://schemas.microsoft.com/office/2006/metadata/properties"/>
    <ds:schemaRef ds:uri="http://schemas.microsoft.com/office/infopath/2007/PartnerControls"/>
    <ds:schemaRef ds:uri="df7acb31-37ac-40e2-81bb-c44e3630f613"/>
    <ds:schemaRef ds:uri="38ef598d-997c-498b-b737-2f6b2c50ccab"/>
  </ds:schemaRefs>
</ds:datastoreItem>
</file>

<file path=customXml/itemProps2.xml><?xml version="1.0" encoding="utf-8"?>
<ds:datastoreItem xmlns:ds="http://schemas.openxmlformats.org/officeDocument/2006/customXml" ds:itemID="{0CE24DD7-9317-4AD8-82D4-5A6998DA79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9647E8-EA5A-4469-8198-396AF1DA17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8ef598d-997c-498b-b737-2f6b2c50ccab"/>
    <ds:schemaRef ds:uri="df7acb31-37ac-40e2-81bb-c44e3630f6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36ECED7C-7E24-4B80-B6AD-5BF0A508FB7B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SMSC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 Template 2020</dc:title>
  <dc:creator>Michael Wikan</dc:creator>
  <cp:lastModifiedBy>Martin Ruppert - M91221</cp:lastModifiedBy>
  <cp:revision>227</cp:revision>
  <dcterms:created xsi:type="dcterms:W3CDTF">2019-09-10T21:33:18Z</dcterms:created>
  <dcterms:modified xsi:type="dcterms:W3CDTF">2020-08-05T09:50:09Z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ItemGuid">
    <vt:lpwstr>6b1d4785-8f50-4d6b-8c29-4627085ae703</vt:lpwstr>
  </property>
  <property fmtid="{D5CDD505-2E9C-101B-9397-08002B2CF9AE}" pid="3" name="ContentTypeId">
    <vt:lpwstr>0x01010006EF9829FE6FB94D84D3D1D5B1820991</vt:lpwstr>
  </property>
</Properties>
</file>