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1" r:id="rId27"/>
    <p:sldId id="272" r:id="rId28"/>
    <p:sldId id="273" r:id="rId29"/>
    <p:sldId id="274" r:id="rId30"/>
    <p:sldId id="275" r:id="rId31"/>
    <p:sldId id="270" r:id="rId26"/>
  </p:sldIdLst>
  <p:sldSz cx="12188825" cy="6858000"/>
  <p:notesSz cx="6858000" cy="9144000"/>
  <p:defaultTextStyle>
    <a:defPPr>
      <a:defRPr lang="en-US"/>
    </a:defPPr>
    <a:lvl1pPr marL="0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" userDrawn="1">
          <p15:clr>
            <a:srgbClr val="A4A3A4"/>
          </p15:clr>
        </p15:guide>
        <p15:guide id="2" pos="24" userDrawn="1">
          <p15:clr>
            <a:srgbClr val="A4A3A4"/>
          </p15:clr>
        </p15:guide>
        <p15:guide id="3" orient="horz" pos="80">
          <p15:clr>
            <a:srgbClr val="A4A3A4"/>
          </p15:clr>
        </p15:guide>
        <p15:guide id="4" pos="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777777"/>
    <a:srgbClr val="070707"/>
    <a:srgbClr val="0E3689"/>
    <a:srgbClr val="1D9CE4"/>
    <a:srgbClr val="FFD53A"/>
    <a:srgbClr val="702076"/>
    <a:srgbClr val="5EBF33"/>
    <a:srgbClr val="FD7F20"/>
    <a:srgbClr val="0E1454"/>
    <a:srgbClr val="CE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 autoAdjust="0"/>
    <p:restoredTop sz="94830"/>
  </p:normalViewPr>
  <p:slideViewPr>
    <p:cSldViewPr snapToGrid="0" snapToObjects="1">
      <p:cViewPr varScale="1">
        <p:scale>
          <a:sx n="81" d="100"/>
          <a:sy n="81" d="100"/>
        </p:scale>
        <p:origin x="1018" y="67"/>
      </p:cViewPr>
      <p:guideLst>
        <p:guide orient="horz" pos="60"/>
        <p:guide pos="24"/>
        <p:guide orient="horz" pos="80"/>
        <p:guide pos="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3832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9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39C997-21E5-5348-AFE6-AB6F92264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7AC1D-5903-004B-A07D-BA6E3EE37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5C2D-FB91-8740-95C2-23C11A10F2F2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79EA0-CF08-6C46-9B0C-7A703F62F2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23A1-2359-A341-AFD4-DCB4B7D00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837C5-E66E-4749-8D3A-655388B1E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73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E49F-5C3A-ED4E-A68A-CCB3AA3B5D5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CB49-A7FB-5E4A-B599-DE2118135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414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6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36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0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872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4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80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275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74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165" y="2474260"/>
            <a:ext cx="6437455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1530" y="6331942"/>
            <a:ext cx="2777297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2849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7363" y="3799832"/>
            <a:ext cx="7411397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5143" y="6123667"/>
            <a:ext cx="6419850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5142" y="5763412"/>
            <a:ext cx="6420245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55" y="5139766"/>
            <a:ext cx="1630420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621" y="2635935"/>
            <a:ext cx="3584711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7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0606" y="2034289"/>
            <a:ext cx="790916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0606" y="3824300"/>
            <a:ext cx="790916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8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077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626375"/>
            <a:ext cx="1140066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2971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5505846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929270"/>
            <a:ext cx="5505846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0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1408546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4095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7" y="923075"/>
            <a:ext cx="5474569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5192" y="941660"/>
            <a:ext cx="5387630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561175"/>
            <a:ext cx="5474567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561175"/>
            <a:ext cx="5387630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7310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381004"/>
            <a:ext cx="5474569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5192" y="1381003"/>
            <a:ext cx="5387630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6087" y="6490880"/>
            <a:ext cx="129209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988634"/>
            <a:ext cx="5474567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988634"/>
            <a:ext cx="5387630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6731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0212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29115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943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78931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436" y="6396138"/>
            <a:ext cx="1447127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039091"/>
            <a:ext cx="1140066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6" r:id="rId4"/>
    <p:sldLayoutId id="2147483660" r:id="rId5"/>
    <p:sldLayoutId id="2147483652" r:id="rId6"/>
    <p:sldLayoutId id="2147483657" r:id="rId7"/>
    <p:sldLayoutId id="2147483653" r:id="rId8"/>
    <p:sldLayoutId id="2147483658" r:id="rId9"/>
    <p:sldLayoutId id="2147483654" r:id="rId10"/>
    <p:sldLayoutId id="2147483659" r:id="rId11"/>
    <p:sldLayoutId id="2147483655" r:id="rId12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 userDrawn="1">
          <p15:clr>
            <a:srgbClr val="F26B43"/>
          </p15:clr>
        </p15:guide>
        <p15:guide id="2" pos="16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Automated Build, Flash &amp;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800"/>
              <a:t>A CLI- and logic-analyzer-driven workflow on the PIC16F13145 Curiosity Nano</a:t>
            </a:r>
          </a:p>
          <a:p>
            <a:r>
              <a:rPr sz="1800"/>
              <a:t>Martin Ruppert | Microchip</a:t>
            </a:r>
          </a:p>
          <a:p>
            <a:r>
              <a:rPr sz="1800"/>
              <a:t>2026-06-14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Firmware — a UART console controlling two hardware PWM channels</a:t>
            </a:r>
          </a:p>
          <a:p>
            <a:pPr lvl="1"/>
            <a:r>
              <a:rPr sz="1800">
                <a:solidFill>
                  <a:srgbClr val="0B2E4F"/>
                </a:solidFill>
              </a:rPr>
              <a:t>PIC16F13145 Curiosity Nano, PWM1-&gt;RC0, PWM2-&gt;RC1 (Timer2)</a:t>
            </a:r>
          </a:p>
          <a:p>
            <a:pPr lvl="1"/>
            <a:r>
              <a:rPr sz="1800">
                <a:solidFill>
                  <a:srgbClr val="0B2E4F"/>
                </a:solidFill>
              </a:rPr>
              <a:t>Commands: help / version / reset / pulse freq|duty|on|off|status</a:t>
            </a:r>
          </a:p>
          <a:p>
            <a:pPr lvl="1"/>
            <a:r>
              <a:rPr sz="1800">
                <a:solidFill>
                  <a:srgbClr val="0B2E4F"/>
                </a:solidFill>
              </a:rPr>
              <a:t>Line editor with cursor, mid-line edit and 10-command history</a:t>
            </a:r>
          </a:p>
          <a:p>
            <a:pPr lvl="1"/>
            <a:r>
              <a:rPr sz="1800">
                <a:solidFill>
                  <a:srgbClr val="0B2E4F"/>
                </a:solidFill>
              </a:rPr>
              <a:t>Build-timestamp banner identifies the running firmware</a:t>
            </a:r>
          </a:p>
          <a:p>
            <a:pPr/>
            <a:r>
              <a:rPr sz="1800">
                <a:solidFill>
                  <a:srgbClr val="0B2E4F"/>
                </a:solidFill>
              </a:rPr>
              <a:t>Tooling — the whole loop runs from the command line</a:t>
            </a:r>
          </a:p>
          <a:p>
            <a:pPr lvl="1"/>
            <a:r>
              <a:rPr sz="1800">
                <a:solidFill>
                  <a:srgbClr val="0B2E4F"/>
                </a:solidFill>
              </a:rPr>
              <a:t>build.bat (CMake+Ninja+XC8), flash.py (MPLAB MDB)</a:t>
            </a:r>
          </a:p>
          <a:p>
            <a:pPr lvl="1"/>
            <a:r>
              <a:rPr sz="1800">
                <a:solidFill>
                  <a:srgbClr val="0B2E4F"/>
                </a:solidFill>
              </a:rPr>
              <a:t>smoketest.py, freq_sweep.py, duty_sweep.py (Saleae-verified)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Manual vs. Automated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11475720" cy="45720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1">
                <a:solidFill>
                  <a:srgbClr val="0B2E4F"/>
                </a:solidFill>
              </a:rPr>
              <a:t>The same edit-build-flash-measure loop, by hand versus one command.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965960"/>
            <a:ext cx="5669280" cy="50292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Manual (IDE + scope by eye)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65960"/>
            <a:ext cx="5669280" cy="502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Automated (CLI + logic analyzer)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560320"/>
            <a:ext cx="557784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Click Build, click Program in the IDE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Open a terminal, type commands by hand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Read a scope, eyeball frequency and duty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Slow, subjective, not repeatable, no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60320"/>
            <a:ext cx="557784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build.bat -&gt; flash.py -&gt; smoketest.py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Host scripts drive the console over USB CDC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Saleae measures the real pins; pass/fail in code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Fast, objective, reproducible, CSV + plots archived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760720"/>
            <a:ext cx="11612880" cy="59436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1">
                <a:solidFill>
                  <a:srgbClr val="0B2E4F"/>
                </a:solidFill>
              </a:rPr>
              <a:t>One scripted pipeline replaces a dozen manual clicks and a pair of eyes.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The Automated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737360"/>
            <a:ext cx="2777490" cy="155448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1.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4690" y="1737360"/>
            <a:ext cx="2777490" cy="15544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2. Flash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49340" y="1737360"/>
            <a:ext cx="2777490" cy="155448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3.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3990" y="1737360"/>
            <a:ext cx="2777490" cy="15544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4. Verify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7530" y="2514600"/>
            <a:ext cx="137160" cy="0"/>
          </a:xfrm>
          <a:prstGeom prst="bentConnector3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12180" y="2514600"/>
            <a:ext cx="137160" cy="0"/>
          </a:xfrm>
          <a:prstGeom prst="bentConnector3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26830" y="2514600"/>
            <a:ext cx="137160" cy="0"/>
          </a:xfrm>
          <a:prstGeom prst="bentConnector3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" y="3383279"/>
            <a:ext cx="277749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55555"/>
                </a:solidFill>
              </a:rPr>
              <a:t>build.bat drives the CMake preset + Ninja with the XC8 toolchain.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4690" y="3383279"/>
            <a:ext cx="277749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55555"/>
                </a:solidFill>
              </a:rPr>
              <a:t>flash.py drives the MPLAB MDB to program the HEX over ICSP.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9340" y="3383279"/>
            <a:ext cx="277749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55555"/>
                </a:solidFill>
              </a:rPr>
              <a:t>The target boots and exposes its CLI over the virtual COM 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3990" y="3383279"/>
            <a:ext cx="277749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55555"/>
                </a:solidFill>
              </a:rPr>
              <a:t>Host scripts set PWM via the CLI and measure it with the Saleae.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577840"/>
            <a:ext cx="11521440" cy="7315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Edit a line of C and one command later you have a pass/fail with plots.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1. Build from the CLI — build.bat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B2E4F"/>
                </a:solidFill>
                <a:latin typeface="Consolas"/>
              </a:rPr>
              <a:t>build.bat            :: configure (if needed) + build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build.bat rebuild    :: clean, then build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build.bat clean      :: remove build tree + output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=== Build finished ===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Output: out\Loop\default.elf  (+ default.hex)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Program space  76.0%   Data space  75.7%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2120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Wraps the generated CMake preset and Ninja — no IDE needed.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XC8 is referenced by absolute path, so it need not be on PATH.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Returns a non-zero exit code on failure — CI-friendly.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2. Flash from the CLI — flash.py (MPLAB MDB)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B2E4F"/>
                </a:solidFill>
                <a:latin typeface="Consolas"/>
              </a:rPr>
              <a:t>python flash.py          # program out\Loop\default.hex, then run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python flash.py --list   # list detected debuggers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[LOOP] MDB &lt;&lt; program "out\Loop\default.hex"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[LOOP] MDB &gt;&gt; Program succeeded.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[LOOP] SUCCESS: Device programmed; target running.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2120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Drives mdb.bat (Microchip Debugger Backend) as a subprocess.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Auto-selects the on-board pkobnano debugger and programs over ICSP.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Releases the target so it runs immediately — no IDE in the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Hardware-in-the-Loop Test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645920"/>
            <a:ext cx="1767840" cy="10058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PIC16F13145
RC0 / RC1 PWM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70760" y="1645920"/>
            <a:ext cx="1767840" cy="100584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Saleae Logic 8
ch0 / ch1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21480" y="1645920"/>
            <a:ext cx="1767840" cy="100584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Logic 2
automation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1767840" cy="100584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digital.csv
raw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2920" y="1645920"/>
            <a:ext cx="1767840" cy="10058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Python
edge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3640" y="1645920"/>
            <a:ext cx="1767840" cy="10058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PASS / FAIL
+ plot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87880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38600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89320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40040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90760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3108960"/>
            <a:ext cx="8503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Measurement path: the PWM pins are sampled directly by the analyzer.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Control path: commands go to the CLI over USB CDC (COM12).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One host process orchestrates both the serial console and the capture.</a:t>
            </a:r>
          </a:p>
        </p:txBody>
      </p:sp>
      <p:pic>
        <p:nvPicPr>
          <p:cNvPr id="15" name="Picture 14" descr="clb_hil_be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7057" y="3017520"/>
            <a:ext cx="1996135" cy="2606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08392" y="566013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595959"/>
                </a:solidFill>
                <a:latin typeface="Calibri"/>
              </a:rPr>
              <a:t>Real HIL bench: Saleae Logic + PIC16F13145 Curiosity Nano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320040" y="1700784"/>
            <a:ext cx="635508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6355080" cy="329184"/>
          </a:xfrm>
          <a:prstGeom prst="rect">
            <a:avLst/>
          </a:prstGeom>
          <a:solidFill>
            <a:srgbClr val="323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tIns="25400" bIns="25400"/>
          <a:lstStyle/>
          <a:p>
            <a:pPr algn="l"/>
            <a:r>
              <a:rPr sz="1100">
                <a:solidFill>
                  <a:srgbClr val="86C586"/>
                </a:solidFill>
                <a:latin typeface="Consolas"/>
              </a:rPr>
              <a:t>COM12 - 115200 baud  8N1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The CLI Under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5897880" cy="3657600"/>
          </a:xfrm>
          <a:prstGeom prst="rect">
            <a:avLst/>
          </a:prstGeom>
          <a:noFill/>
        </p:spPr>
        <p:txBody>
          <a:bodyPr wrap="none" lIns="76200" rIns="50800">
            <a:spAutoFit/>
          </a:bodyPr>
          <a:lstStyle/>
          <a:p>
            <a:r>
              <a:rPr sz="1300">
                <a:solidFill>
                  <a:srgbClr val="33FF66"/>
                </a:solidFill>
                <a:latin typeface="Consolas"/>
              </a:rPr>
              <a:t>&gt; version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Loop firmware | build Jun 14 2026 00:13:01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&gt; pulse freq 9600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Frequency -&gt; 9615.384 Hz (requested 9600)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&gt; pulse a duty 33.3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Duty A -&gt; 33.293 % (requested 33.3)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&gt; pulse a on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Signal A -&gt; ON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&gt; pulse status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Frequency = 9615.384 Hz (shared)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A (RC0): ON, duty 33.293 %</a:t>
            </a:r>
          </a:p>
          <a:p>
            <a:r>
              <a:rPr sz="1300">
                <a:solidFill>
                  <a:srgbClr val="33FF66"/>
                </a:solidFill>
                <a:latin typeface="Consolas"/>
              </a:rPr>
              <a:t>&gt; 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2120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Floating-point input; the device echoes the quantised actual value.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Scripts parse these replies as the expected reference for each test.</a:t>
            </a:r>
          </a:p>
        </p:txBody>
      </p:sp>
      <p:pic>
        <p:nvPicPr>
          <p:cNvPr id="5" name="Picture 4" descr="slide8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54480"/>
            <a:ext cx="4937760" cy="2117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1371600"/>
            <a:ext cx="1051560" cy="329184"/>
          </a:xfrm>
          <a:prstGeom prst="rect">
            <a:avLst/>
          </a:prstGeom>
          <a:noFill/>
        </p:spPr>
        <p:txBody>
          <a:bodyPr wrap="none" anchor="ctr" tIns="0" bIns="0" rIns="76200">
            <a:spAutoFit/>
          </a:bodyPr>
          <a:lstStyle/>
          <a:p>
            <a:pPr algn="r"/>
            <a:r>
              <a:rPr sz="1100">
                <a:solidFill>
                  <a:srgbClr val="86C586"/>
                </a:solidFill>
                <a:latin typeface="Consolas"/>
              </a:rPr>
              <a:t>–  □  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3. Verify — smoketest.py drives CLI + Saleae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B2E4F"/>
                </a:solidFill>
                <a:latin typeface="Consolas"/>
              </a:rPr>
              <a:t>console.cmd(f"pulse freq {f}")      # set via the CLI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console.cmd(f"pulse a duty {da}")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console.cmd("pulse a on")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cap = manager.start_capture(...)    # Saleae timed capture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cap.export_raw_data_csv(out_dir)    # -&gt; digital.csv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m = analyze_digital_csv("digital.csv", ch=0)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assert abs(m.freq - f) &lt; f * 0.03   # 3% (HFINTOSC)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assert abs(m.duty - da) &lt; 2.0       # 2 percentage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2120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Frequency from the median of rising-edge intervals.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Duty from high-time / period; a disabled channel must read 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Smoke-Test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2537460" cy="1645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Test cases
4/4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1859" y="1737360"/>
            <a:ext cx="2537460" cy="1645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Freq deviation
&lt; 0.5 %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2537460" cy="1645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Duty deviation
&lt; 0.05 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75419" y="1737360"/>
            <a:ext cx="2537460" cy="1645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Verdict
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Cases: 1 kHz, 5 kHz, 20 kHz at various duties + one disabled channel.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Measured duty matched the firmware's quantised values exactly.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Frequency offset is the internal HFINTOSC (+/-2%), well inside tolerance.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Frequency Sweep — Saleae-Verified</a:t>
            </a:r>
          </a:p>
        </p:txBody>
      </p:sp>
      <p:pic>
        <p:nvPicPr>
          <p:cNvPr id="3" name="Picture 2" descr="freq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1325880"/>
            <a:ext cx="4470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12064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Every requested frequency is set, captured and measured on RC0.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Top: requested vs. measured (on the ideal line). Bottom: deviation.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Deviation = quantisation of the integer Timer2 divider (&lt; 0.5%).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Duty-Cycle Sweep across Frequencies</a:t>
            </a:r>
          </a:p>
        </p:txBody>
      </p:sp>
      <p:pic>
        <p:nvPicPr>
          <p:cNvPr id="3" name="Picture 2" descr="dut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1325880"/>
            <a:ext cx="4470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12064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Duty 0..100% swept at 1 / 10 / 50 kHz, each point Saleae-measured.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Resolution (4*N steps) gets coarser as the frequency rises.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Dots = measured, x = firmware-reported quantisation.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Interpreting the Results — Quantisation vs. the Real World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11475720" cy="45720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1">
                <a:solidFill>
                  <a:srgbClr val="0B2E4F"/>
                </a:solidFill>
              </a:rPr>
              <a:t>Two deviations per point — firmware vs. requested = quantisation; measured vs. firmware = oscillator + measurement.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965960"/>
            <a:ext cx="5669280" cy="50292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Frequency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65960"/>
            <a:ext cx="5669280" cy="50292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Duty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560320"/>
            <a:ext cx="557784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Firmware vs. requested = integer-divider quantisation (15321 -&gt; 15267 Hz)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Measured vs. firmware = a consistent -0.1...-0.15 %</a:t>
            </a:r>
          </a:p>
          <a:p>
            <a:pPr lvl="1"/>
            <a:r>
              <a:rPr sz="1800">
                <a:solidFill>
                  <a:srgbClr val="0B2E4F"/>
                </a:solidFill>
              </a:rPr>
              <a:t>– That offset is the HFINTOSC running slightly slow (inside its +/-2 % spec)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Saleae is accurate here: per-edge +/-100 ns averages over many cycles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It only limits above ~100-200 kHz, as samples/period approach the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560320"/>
            <a:ext cx="557784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Firmware quantises to 4N steps — at 50 kHz that is 0.156 pp/step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Saleae duty resolution = frequency / sample_rate (one sample per period)</a:t>
            </a:r>
          </a:p>
          <a:p>
            <a:pPr lvl="1"/>
            <a:r>
              <a:rPr sz="1800">
                <a:solidFill>
                  <a:srgbClr val="0B2E4F"/>
                </a:solidFill>
              </a:rPr>
              <a:t>– 50 kHz @ 10 MS/s -&gt; 0.5 pp, coarser than the firmware's step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So measured != firmware at 1 % / 99 % is a measurement limit, not a fault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Fix: raise --sample-rate to 25-50 MS/s -&gt; &gt;=1000 samples/period again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760720"/>
            <a:ext cx="11612880" cy="59436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1">
                <a:solidFill>
                  <a:srgbClr val="0B2E4F"/>
                </a:solidFill>
              </a:rPr>
              <a:t>The only real analogue error is the HFINTOSC (~-0.1 %); the Saleae is the bottleneck only for duty at high frequency.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run_ci.py — One Command, One HTML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645920"/>
            <a:ext cx="2157984" cy="10058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build.bat
XC8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0904" y="1645920"/>
            <a:ext cx="2157984" cy="100584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flash.py
MDB / ICSP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1768" y="1645920"/>
            <a:ext cx="2157984" cy="100584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regression.py
serial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42631" y="1645920"/>
            <a:ext cx="2157984" cy="100584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smoketest.py
Saleae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83496" y="1645920"/>
            <a:ext cx="2157984" cy="10058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report.html
PASS / FAIL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78024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18888" y="2148840"/>
            <a:ext cx="1828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59752" y="2148840"/>
            <a:ext cx="182879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00615" y="2148840"/>
            <a:ext cx="182881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10896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0B2E4F"/>
                </a:solidFill>
              </a:rPr>
              <a:t>• Serial regression (no instrument): input validation, line editor, RX-stress, reset.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Saleae smoke: frequency + duty on the pins, plus duty-held-across-frequency.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One self-contained report.html: overall verdict, every check, build memory, firmware stamp.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Non-zero exit code on any failure -&gt; drops straight into a CI job.</a:t>
            </a:r>
          </a:p>
          <a:p>
            <a:pPr/>
            <a:r>
              <a:rPr sz="1800">
                <a:solidFill>
                  <a:srgbClr val="0B2E4F"/>
                </a:solidFill>
              </a:rPr>
              <a:t>• The regression suite already caught a real bug (pulse freq overflow accepted 9 MHz).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Scaling to the CLB Half-Bridge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The same build -&gt; flash -&gt; verify pipeline now drives a second peripheral.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Goal: a complementary half-bridge on RC0 (HS) / RC1 (LS) with a runtime-adjustable dead-time.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The PIC16F13145 has no CWG -&gt; built entirely from the on-chip fabric.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Same console, new commands:</a:t>
            </a:r>
          </a:p>
          <a:p>
            <a:pPr lvl="1">
              <a:defRPr sz="1800">
                <a:latin typeface="Calibri"/>
              </a:defRPr>
            </a:pPr>
            <a:r>
              <a:rPr sz="1800">
                <a:latin typeface="Calibri"/>
              </a:rPr>
              <a:t>clb on | off</a:t>
            </a:r>
          </a:p>
          <a:p>
            <a:pPr lvl="1">
              <a:defRPr sz="1800">
                <a:latin typeface="Calibri"/>
              </a:defRPr>
            </a:pPr>
            <a:r>
              <a:rPr sz="1800">
                <a:latin typeface="Calibri"/>
              </a:rPr>
              <a:t>clb dt &lt;0-255&gt;   (dead-time, live)</a:t>
            </a:r>
          </a:p>
          <a:p>
            <a:pPr lvl="1">
              <a:defRPr sz="1800">
                <a:latin typeface="Calibri"/>
              </a:defRPr>
            </a:pPr>
            <a:r>
              <a:rPr sz="1800">
                <a:latin typeface="Calibri"/>
              </a:rPr>
              <a:t>clb freq &lt;0|1&gt;   (125 / 62.5 kHz, live)</a:t>
            </a:r>
          </a:p>
          <a:p>
            <a:pPr lvl="1">
              <a:defRPr sz="1800">
                <a:latin typeface="Calibri"/>
              </a:defRPr>
            </a:pPr>
            <a:r>
              <a:rPr sz="1800">
                <a:latin typeface="Calibri"/>
              </a:rPr>
              <a:t>clb status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Probed on the analyzer: RC0-&gt;D0, RC1-&gt;D1, RC2-&gt;D2, RC3-&gt;D3.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The CLB Half-Bridge -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457200" y="1371600"/>
            <a:ext cx="5760720" cy="4937760"/>
          </a:xfrm>
        </p:spPr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CLB free-running counter -&gt; PWM carrier (125 / 62.5 kHz).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TMR2-HLT monostable, retriggered by every PWM edge -&gt; dead-time = dt x 31.25 ns.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Two CLC D-flip-flops build the complementary HS / LS.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HS only while PWM=1, LS only while PWM=0</a:t>
            </a:r>
          </a:p>
          <a:p>
            <a:pPr lvl="1">
              <a:defRPr sz="1800">
                <a:latin typeface="Calibri"/>
              </a:defRPr>
            </a:pPr>
            <a:r>
              <a:rPr sz="1800">
                <a:latin typeface="Calibri"/>
              </a:rPr>
              <a:t>-&gt; non-overlap is guaranteed by construction (no shoot-through).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Frequency and dead-time are set independently and live.</a:t>
            </a:r>
          </a:p>
        </p:txBody>
      </p:sp>
      <p:pic>
        <p:nvPicPr>
          <p:cNvPr id="4" name="Picture 3" descr="clb_block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94960" cy="28025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Half-Bridge - Measured (Hardware-in-the-Loop)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>
          <a:xfrm>
            <a:off x="457200" y="1371600"/>
            <a:ext cx="5760720" cy="4937760"/>
          </a:xfrm>
        </p:spPr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smoketest.py now sweeps 2 carriers x 6 dead-times, measured on the pins.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Dead-time tracks dt x 31.25 ns to within ~10 ns (one 100 MS/s sample).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Zero shoot-through (both-high = 0 ns) at every setting.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Carrier exact to the oscillator tolerance.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Results, accuracy verdicts and plots in smoketest_report.html.</a:t>
            </a:r>
          </a:p>
        </p:txBody>
      </p:sp>
      <p:pic>
        <p:nvPicPr>
          <p:cNvPr id="4" name="Picture 3" descr="clb_deadtime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94960" cy="2157984"/>
          </a:xfrm>
          <a:prstGeom prst="rect">
            <a:avLst/>
          </a:prstGeom>
        </p:spPr>
      </p:pic>
      <p:pic>
        <p:nvPicPr>
          <p:cNvPr id="5" name="Picture 4" descr="hb_hs_ls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58768"/>
            <a:ext cx="3922776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What the CLB Can / Can't Do - Capability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A two-gate suite (clb_analyze.py): synthesis (does it route?) + silicon (does it run?).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Reliable: a small free-running counter (&lt;=2 output taps), clocked internally or from a pin.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CLBSWIN software inputs work - once the CLBCON.BUSY write-handshake is honoured.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Programmable dividers route, but P&amp;R silently drops period bits -&gt; only ~4 frequencies.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Lesson: keep the counter in the CLB; build gating / dead-time in CLC + TMR2.</a:t>
            </a:r>
          </a:p>
          <a:p>
            <a:pPr>
              <a:defRPr sz="1800">
                <a:latin typeface="Calibri"/>
              </a:defRPr>
            </a:pPr>
            <a:r>
              <a:rPr sz="1800">
                <a:latin typeface="Calibri"/>
              </a:rPr>
              <a:t>Full 'extended datasheet + errata' for a future engineer/AI: clb_description.md.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>
                <a:solidFill>
                  <a:srgbClr val="0B2E4F"/>
                </a:solidFill>
              </a:rPr>
              <a:t>The full edit -&gt; build -&gt; flash -&gt; verify loop is one scripted pipeline</a:t>
            </a:r>
          </a:p>
          <a:p>
            <a:pPr/>
            <a:r>
              <a:rPr sz="1800">
                <a:solidFill>
                  <a:srgbClr val="0B2E4F"/>
                </a:solidFill>
              </a:rPr>
              <a:t>A serial CLI makes the firmware controllable and observable from a host</a:t>
            </a:r>
          </a:p>
          <a:p>
            <a:pPr/>
            <a:r>
              <a:rPr sz="1800">
                <a:solidFill>
                  <a:srgbClr val="0B2E4F"/>
                </a:solidFill>
              </a:rPr>
              <a:t>A logic analyzer turns 'looks right' into a measured pass/fail</a:t>
            </a:r>
          </a:p>
          <a:p>
            <a:pPr/>
            <a:r>
              <a:rPr sz="1800">
                <a:solidFill>
                  <a:srgbClr val="0B2E4F"/>
                </a:solidFill>
              </a:rPr>
              <a:t>Logic 2 automation + CSV export = repeatable, archivable evidence</a:t>
            </a:r>
          </a:p>
          <a:p>
            <a:pPr/>
            <a:r>
              <a:rPr sz="1800">
                <a:solidFill>
                  <a:srgbClr val="0B2E4F"/>
                </a:solidFill>
              </a:rPr>
              <a:t>Everything is CI-ready: exit codes, CSV data and plots per run</a:t>
            </a:r>
          </a:p>
          <a:p>
            <a:pPr/>
            <a:r>
              <a:rPr sz="1800">
                <a:solidFill>
                  <a:srgbClr val="0B2E4F"/>
                </a:solidFill>
              </a:rPr>
              <a:t>Same pattern scales to any peripheral with an observable 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an LLM Can Configure a Logic Peripheral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/>
            <a:r>
              <a:rPr sz="1800">
                <a:latin typeface="Calibri"/>
              </a:rPr>
              <a:t>Register setup is documentation-driven pattern work</a:t>
            </a:r>
          </a:p>
          <a:p>
            <a:pPr lvl="1"/>
            <a:r>
              <a:rPr sz="1600">
                <a:latin typeface="Calibri"/>
              </a:rPr>
              <a:t>Datasheet register tables -&gt; ordered SFR writes: CLBCON, CLBSWIN, PPS, TMR2/HLT</a:t>
            </a:r>
          </a:p>
          <a:p>
            <a:pPr lvl="1"/>
            <a:r>
              <a:rPr sz="1600">
                <a:latin typeface="Calibri"/>
              </a:rPr>
              <a:t>PIC / XC8 idioms + MCC-generated headers + existing project code as scaffold</a:t>
            </a:r>
          </a:p>
          <a:p>
            <a:pPr/>
            <a:r>
              <a:rPr sz="1800">
                <a:latin typeface="Calibri"/>
              </a:rPr>
              <a:t>Knowledge came from tools, not the model's memory alone</a:t>
            </a:r>
          </a:p>
          <a:p>
            <a:pPr lvl="1"/>
            <a:r>
              <a:rPr sz="1600">
                <a:latin typeface="Calibri"/>
              </a:rPr>
              <a:t>Datasheet looked up live (e.g. the CLBCON.BUSY handshake); MCC register defs reused</a:t>
            </a:r>
          </a:p>
          <a:p>
            <a:pPr/>
            <a:r>
              <a:rPr sz="1800">
                <a:latin typeface="Calibri"/>
              </a:rPr>
              <a:t>The hardware-in-the-loop did the heavy lifting</a:t>
            </a:r>
          </a:p>
          <a:p>
            <a:pPr lvl="1"/>
            <a:r>
              <a:rPr sz="1600">
                <a:latin typeface="Calibri"/>
              </a:rPr>
              <a:t>flash -&gt; measure (Saleae) -&gt; compare -&gt; fix exposed the real bugs:</a:t>
            </a:r>
          </a:p>
          <a:p>
            <a:pPr lvl="1"/>
            <a:r>
              <a:rPr sz="1600">
                <a:latin typeface="Calibri"/>
              </a:rPr>
              <a:t>TMR2 prescaler (dead-time x32), missing BUSY handshake, PPS invert / off-by-one</a:t>
            </a:r>
          </a:p>
          <a:p>
            <a:pPr/>
            <a:r>
              <a:rPr sz="1800">
                <a:latin typeface="Calibri"/>
              </a:rPr>
              <a:t>Honest limit: the CLB logic fabric is NOT generated headlessly</a:t>
            </a:r>
          </a:p>
          <a:p>
            <a:pPr lvl="1"/>
            <a:r>
              <a:rPr sz="1600">
                <a:latin typeface="Calibri"/>
              </a:rPr>
              <a:t>Verilog is sent to pyclbsynthesizer (Microchip server); only a small counter routes reliably</a:t>
            </a:r>
          </a:p>
          <a:p>
            <a:pPr lvl="1"/>
            <a:r>
              <a:rPr sz="1600">
                <a:latin typeface="Calibri"/>
              </a:rPr>
              <a:t>"Configure the registers" is not the same as "synthesize the logic fabric"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_x0020_Archived xmlns="df7acb31-37ac-40e2-81bb-c44e3630f613">false</Content_x0020_Archived>
    <_dlc_DocId xmlns="38ef598d-997c-498b-b737-2f6b2c50ccab">SV5CHKDEWJXD-84-133</_dlc_DocId>
    <_dlc_DocIdUrl xmlns="38ef598d-997c-498b-b737-2f6b2c50ccab">
      <Url>http://mchpweb-2010/marcom/home/Resources/_layouts/DocIdRedir.aspx?ID=SV5CHKDEWJXD-84-133</Url>
      <Description>SV5CHKDEWJXD-84-133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EF9829FE6FB94D84D3D1D5B1820991" ma:contentTypeVersion="2" ma:contentTypeDescription="Create a new document." ma:contentTypeScope="" ma:versionID="84d427fd2fb92a215479da5b0fe5e4ad">
  <xsd:schema xmlns:xsd="http://www.w3.org/2001/XMLSchema" xmlns:xs="http://www.w3.org/2001/XMLSchema" xmlns:p="http://schemas.microsoft.com/office/2006/metadata/properties" xmlns:ns2="38ef598d-997c-498b-b737-2f6b2c50ccab" xmlns:ns3="df7acb31-37ac-40e2-81bb-c44e3630f613" targetNamespace="http://schemas.microsoft.com/office/2006/metadata/properties" ma:root="true" ma:fieldsID="156788901a84a305ff90b9b24ba2d9fb" ns2:_="" ns3:_="">
    <xsd:import namespace="38ef598d-997c-498b-b737-2f6b2c50ccab"/>
    <xsd:import namespace="df7acb31-37ac-40e2-81bb-c44e3630f61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Content_x0020_Archiv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ef598d-997c-498b-b737-2f6b2c50cca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7acb31-37ac-40e2-81bb-c44e3630f613" elementFormDefault="qualified">
    <xsd:import namespace="http://schemas.microsoft.com/office/2006/documentManagement/types"/>
    <xsd:import namespace="http://schemas.microsoft.com/office/infopath/2007/PartnerControls"/>
    <xsd:element name="Content_x0020_Archived" ma:index="11" nillable="true" ma:displayName="Content Archived" ma:internalName="Content_x0020_Archived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5774815-801A-4D0C-AAC8-304A8EA5EAE0}">
  <ds:schemaRefs>
    <ds:schemaRef ds:uri="http://schemas.microsoft.com/office/2006/metadata/properties"/>
    <ds:schemaRef ds:uri="http://schemas.microsoft.com/office/infopath/2007/PartnerControls"/>
    <ds:schemaRef ds:uri="df7acb31-37ac-40e2-81bb-c44e3630f613"/>
    <ds:schemaRef ds:uri="38ef598d-997c-498b-b737-2f6b2c50ccab"/>
  </ds:schemaRefs>
</ds:datastoreItem>
</file>

<file path=customXml/itemProps2.xml><?xml version="1.0" encoding="utf-8"?>
<ds:datastoreItem xmlns:ds="http://schemas.openxmlformats.org/officeDocument/2006/customXml" ds:itemID="{0CE24DD7-9317-4AD8-82D4-5A6998DA79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9647E8-EA5A-4469-8198-396AF1DA17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ef598d-997c-498b-b737-2f6b2c50ccab"/>
    <ds:schemaRef ds:uri="df7acb31-37ac-40e2-81bb-c44e3630f6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6ECED7C-7E24-4B80-B6AD-5BF0A508FB7B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SMSC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Template 2020</dc:title>
  <dc:creator>Michael Wikan</dc:creator>
  <cp:lastModifiedBy>Martin Ruppert - M91221</cp:lastModifiedBy>
  <cp:revision>227</cp:revision>
  <dcterms:created xsi:type="dcterms:W3CDTF">2019-09-10T21:33:18Z</dcterms:created>
  <dcterms:modified xsi:type="dcterms:W3CDTF">2020-08-05T09:50:09Z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6b1d4785-8f50-4d6b-8c29-4627085ae703</vt:lpwstr>
  </property>
  <property fmtid="{D5CDD505-2E9C-101B-9397-08002B2CF9AE}" pid="3" name="ContentTypeId">
    <vt:lpwstr>0x01010006EF9829FE6FB94D84D3D1D5B1820991</vt:lpwstr>
  </property>
</Properties>
</file>